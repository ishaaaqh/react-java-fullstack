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162" d="100"/>
          <a:sy n="162" d="100"/>
        </p:scale>
        <p:origin x="466" y="10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844455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457200" y="347472"/>
            <a:ext cx="1371600" cy="384048"/>
          </a:xfrm>
          <a:prstGeom prst="roundRect">
            <a:avLst>
              <a:gd name="adj" fmla="val 11905"/>
            </a:avLst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347472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DAY 2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Branching &amp; Merging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24231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 development, branch strategies, and conflict resolution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457200" y="3200400"/>
            <a:ext cx="2011680" cy="347472"/>
          </a:xfrm>
          <a:prstGeom prst="roundRect">
            <a:avLst>
              <a:gd name="adj" fmla="val 13158"/>
            </a:avLst>
          </a:prstGeom>
          <a:solidFill>
            <a:srgbClr val="21262D"/>
          </a:solidFill>
          <a:ln w="12700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57200" y="320040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8A6FF"/>
                </a:solidFill>
              </a:rPr>
              <a:t>Why Branching?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606040" y="3200400"/>
            <a:ext cx="2011680" cy="347472"/>
          </a:xfrm>
          <a:prstGeom prst="roundRect">
            <a:avLst>
              <a:gd name="adj" fmla="val 13158"/>
            </a:avLst>
          </a:prstGeom>
          <a:solidFill>
            <a:srgbClr val="21262D"/>
          </a:solidFill>
          <a:ln w="12700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2606040" y="320040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8A6FF"/>
                </a:solidFill>
              </a:rPr>
              <a:t>Branch Internals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754880" y="3200400"/>
            <a:ext cx="2011680" cy="347472"/>
          </a:xfrm>
          <a:prstGeom prst="roundRect">
            <a:avLst>
              <a:gd name="adj" fmla="val 13158"/>
            </a:avLst>
          </a:prstGeom>
          <a:solidFill>
            <a:srgbClr val="21262D"/>
          </a:solidFill>
          <a:ln w="12700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754880" y="320040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8A6FF"/>
                </a:solidFill>
              </a:rPr>
              <a:t>Merge Types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903720" y="3200400"/>
            <a:ext cx="2011680" cy="347472"/>
          </a:xfrm>
          <a:prstGeom prst="roundRect">
            <a:avLst>
              <a:gd name="adj" fmla="val 13158"/>
            </a:avLst>
          </a:prstGeom>
          <a:solidFill>
            <a:srgbClr val="21262D"/>
          </a:solidFill>
          <a:ln w="12700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903720" y="320040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8A6FF"/>
                </a:solidFill>
              </a:rPr>
              <a:t>Conflict Resolution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274320" y="4846320"/>
            <a:ext cx="82296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B949E"/>
                </a:solidFill>
              </a:rPr>
              <a:t>Git Mastery Course  •  Day 2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64592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🌿 Why Branching? — The Problem it Solves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8229600" cy="36576"/>
          </a:xfrm>
          <a:prstGeom prst="rect">
            <a:avLst/>
          </a:prstGeom>
          <a:solidFill>
            <a:srgbClr val="21262D"/>
          </a:solidFill>
          <a:ln w="12700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4023360" cy="1600200"/>
          </a:xfrm>
          <a:prstGeom prst="rect">
            <a:avLst/>
          </a:prstGeom>
          <a:solidFill>
            <a:srgbClr val="161B22"/>
          </a:solidFill>
          <a:ln w="12700">
            <a:solidFill>
              <a:srgbClr val="F781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94360" y="109728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78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🚫 Problem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94360" y="1463040"/>
            <a:ext cx="37490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You're fixing Bug A. Suddenly you need to add Feature B. Without branches, your half-done bug fix and half-done feature are tangled together. You can't ship either.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754880" y="1005840"/>
            <a:ext cx="4023360" cy="1600200"/>
          </a:xfrm>
          <a:prstGeom prst="rect">
            <a:avLst/>
          </a:prstGeom>
          <a:solidFill>
            <a:srgbClr val="161B22"/>
          </a:solidFill>
          <a:ln w="12700">
            <a:solidFill>
              <a:srgbClr val="3FB9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892040" y="109728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Branch Solution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892040" y="1463040"/>
            <a:ext cx="37490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branch for the bug fix. Create another for the feature. Work on both independently. Each gets merged when done — clean, isolated, professional.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57200" y="2788920"/>
            <a:ext cx="4023360" cy="1600200"/>
          </a:xfrm>
          <a:prstGeom prst="rect">
            <a:avLst/>
          </a:prstGeom>
          <a:solidFill>
            <a:srgbClr val="161B22"/>
          </a:solidFill>
          <a:ln w="12700">
            <a:solidFill>
              <a:srgbClr val="58A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94360" y="288036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🏢 Real World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94360" y="3246120"/>
            <a:ext cx="37490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Netflix deploys hundreds of branches weekly. Every feature, bug fix, and experiment is isolated. Bad code never reaches production directly.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4754880" y="2788920"/>
            <a:ext cx="4023360" cy="1600200"/>
          </a:xfrm>
          <a:prstGeom prst="rect">
            <a:avLst/>
          </a:prstGeom>
          <a:solidFill>
            <a:srgbClr val="161B22"/>
          </a:solidFill>
          <a:ln w="12700">
            <a:solidFill>
              <a:srgbClr val="58A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892040" y="288036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🪶 Lightweight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892040" y="3246120"/>
            <a:ext cx="37490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Git branch is just a 41-byte file (a commit hash). Creating a branch is essentially free — takes milliseconds, uses almost no storage.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274320" y="4846320"/>
            <a:ext cx="82296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B949E"/>
                </a:solidFill>
              </a:rPr>
              <a:t>Git Mastery Course  •  Day 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BC8CFF"/>
          </a:solidFill>
          <a:ln w="12700">
            <a:solidFill>
              <a:srgbClr val="BC8C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64592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🔬 How Branches Work Internally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548640" y="1005840"/>
            <a:ext cx="1645920" cy="731520"/>
          </a:xfrm>
          <a:prstGeom prst="roundRect">
            <a:avLst>
              <a:gd name="adj" fmla="val 10000"/>
            </a:avLst>
          </a:prstGeom>
          <a:solidFill>
            <a:srgbClr val="21262D"/>
          </a:solidFill>
          <a:ln w="12700">
            <a:solidFill>
              <a:srgbClr val="58A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48640" y="105156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a1b2c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137160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194560" y="1371600"/>
            <a:ext cx="822960" cy="0"/>
          </a:xfrm>
          <a:prstGeom prst="line">
            <a:avLst/>
          </a:prstGeom>
          <a:noFill/>
          <a:ln w="25400">
            <a:solidFill>
              <a:srgbClr val="58A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2468880" y="1005840"/>
            <a:ext cx="1645920" cy="731520"/>
          </a:xfrm>
          <a:prstGeom prst="roundRect">
            <a:avLst>
              <a:gd name="adj" fmla="val 10000"/>
            </a:avLst>
          </a:prstGeom>
          <a:solidFill>
            <a:srgbClr val="21262D"/>
          </a:solidFill>
          <a:ln w="12700">
            <a:solidFill>
              <a:srgbClr val="58A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468880" y="105156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d3e4f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468880" y="137160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auth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114800" y="1371600"/>
            <a:ext cx="822960" cy="0"/>
          </a:xfrm>
          <a:prstGeom prst="line">
            <a:avLst/>
          </a:prstGeom>
          <a:noFill/>
          <a:ln w="25400">
            <a:solidFill>
              <a:srgbClr val="58A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389120" y="1005840"/>
            <a:ext cx="1645920" cy="731520"/>
          </a:xfrm>
          <a:prstGeom prst="roundRect">
            <a:avLst>
              <a:gd name="adj" fmla="val 10000"/>
            </a:avLst>
          </a:prstGeom>
          <a:solidFill>
            <a:srgbClr val="21262D"/>
          </a:solidFill>
          <a:ln w="12700">
            <a:solidFill>
              <a:srgbClr val="58A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389120" y="105156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g5h6i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389120" y="137160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bug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800600" y="1371600"/>
            <a:ext cx="594360" cy="0"/>
          </a:xfrm>
          <a:prstGeom prst="line">
            <a:avLst/>
          </a:prstGeom>
          <a:noFill/>
          <a:ln w="25400">
            <a:solidFill>
              <a:srgbClr val="F781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5394960" y="1005840"/>
            <a:ext cx="1645920" cy="731520"/>
          </a:xfrm>
          <a:prstGeom prst="roundRect">
            <a:avLst>
              <a:gd name="adj" fmla="val 10000"/>
            </a:avLst>
          </a:prstGeom>
          <a:solidFill>
            <a:srgbClr val="21262D"/>
          </a:solidFill>
          <a:ln w="12700">
            <a:solidFill>
              <a:srgbClr val="F781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394960" y="105156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781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j7k8l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394960" y="137160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A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040880" y="1371600"/>
            <a:ext cx="182880" cy="0"/>
          </a:xfrm>
          <a:prstGeom prst="line">
            <a:avLst/>
          </a:prstGeom>
          <a:noFill/>
          <a:ln w="25400">
            <a:solidFill>
              <a:srgbClr val="F781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7315200" y="1005840"/>
            <a:ext cx="1645920" cy="731520"/>
          </a:xfrm>
          <a:prstGeom prst="roundRect">
            <a:avLst>
              <a:gd name="adj" fmla="val 10000"/>
            </a:avLst>
          </a:prstGeom>
          <a:solidFill>
            <a:srgbClr val="21262D"/>
          </a:solidFill>
          <a:ln w="12700">
            <a:solidFill>
              <a:srgbClr val="F781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7315200" y="105156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781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m9n0p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315200" y="137160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B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114800" y="548640"/>
            <a:ext cx="1463040" cy="320040"/>
          </a:xfrm>
          <a:prstGeom prst="roundRect">
            <a:avLst>
              <a:gd name="adj" fmla="val 11429"/>
            </a:avLst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114800" y="54864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1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main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949440" y="548640"/>
            <a:ext cx="1828800" cy="320040"/>
          </a:xfrm>
          <a:prstGeom prst="roundRect">
            <a:avLst>
              <a:gd name="adj" fmla="val 11429"/>
            </a:avLst>
          </a:prstGeom>
          <a:solidFill>
            <a:srgbClr val="F78166"/>
          </a:solidFill>
          <a:ln w="12700">
            <a:solidFill>
              <a:srgbClr val="F781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6949440" y="5486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1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feature/login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57200" y="2468880"/>
            <a:ext cx="2651760" cy="214884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594360" y="25603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C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branch = a pointer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94360" y="2999232"/>
            <a:ext cx="237744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 a file containing one commit hash. When you commit, the pointer moves forward automatically.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3291840" y="2468880"/>
            <a:ext cx="2651760" cy="214884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3429000" y="25603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C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 = where you are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3429000" y="2999232"/>
            <a:ext cx="237744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 points to your current branch. git checkout moves HEAD to a different branch.</a:t>
            </a:r>
            <a:endParaRPr lang="en-US" sz="1250" dirty="0"/>
          </a:p>
        </p:txBody>
      </p:sp>
      <p:sp>
        <p:nvSpPr>
          <p:cNvPr id="33" name="Shape 31"/>
          <p:cNvSpPr/>
          <p:nvPr/>
        </p:nvSpPr>
        <p:spPr>
          <a:xfrm>
            <a:off x="6126480" y="2468880"/>
            <a:ext cx="2651760" cy="214884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6263640" y="25603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C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Branches are free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6263640" y="2999232"/>
            <a:ext cx="237744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Creating 100 branches costs almost nothing. Delete them freely after merging.</a:t>
            </a:r>
            <a:endParaRPr lang="en-US" sz="1250" dirty="0"/>
          </a:p>
        </p:txBody>
      </p:sp>
      <p:sp>
        <p:nvSpPr>
          <p:cNvPr id="36" name="Shape 34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274320" y="4846320"/>
            <a:ext cx="82296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B949E"/>
                </a:solidFill>
              </a:rPr>
              <a:t>Git Mastery Course  •  Day 2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🌿 Essential Branch Commands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749808"/>
            <a:ext cx="8412480" cy="3474720"/>
          </a:xfrm>
          <a:prstGeom prst="rect">
            <a:avLst/>
          </a:prstGeom>
          <a:solidFill>
            <a:srgbClr val="010409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594360" y="886968"/>
            <a:ext cx="164592" cy="164592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850392" y="886968"/>
            <a:ext cx="164592" cy="164592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106424" y="886968"/>
            <a:ext cx="164592" cy="164592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48640" y="114300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git branch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223260" y="1143000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# List all branches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150876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git branch feature/login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400300" y="1508760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# Create </a:t>
            </a:r>
            <a:r>
              <a:rPr lang="en-US" sz="130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 Branch.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48640" y="187452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git checkout feature/login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194560" y="1874520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# Switch to branch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48640" y="224028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git checkout -b feature/signup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674620" y="2240280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# Create + switch (shortcut!)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48640" y="260604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git switch -c feature/payment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2606040" y="2606040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# Modern syntax (Git 2.23+)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48640" y="297180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git branch -d feature/login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2400300" y="2971800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# Delete merged branch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48640" y="333756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git branch -D feature/login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851660" y="3337560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# Force delete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365760" y="4343400"/>
            <a:ext cx="8412480" cy="347472"/>
          </a:xfrm>
          <a:prstGeom prst="rect">
            <a:avLst/>
          </a:prstGeom>
          <a:solidFill>
            <a:srgbClr val="1C2128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548640" y="4370832"/>
            <a:ext cx="8046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Prefer git switch over git checkout for branches — it's clearer and was designed specifically for switching branches.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274320" y="4846320"/>
            <a:ext cx="82296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B949E"/>
                </a:solidFill>
              </a:rPr>
              <a:t>Git Mastery Course  •  Day 2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78166"/>
          </a:solidFill>
          <a:ln w="12700">
            <a:solidFill>
              <a:srgbClr val="F781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64592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🔀 Types of Merges — Fast-Forward vs 3-Way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868680"/>
            <a:ext cx="4023360" cy="3840480"/>
          </a:xfrm>
          <a:prstGeom prst="rect">
            <a:avLst/>
          </a:prstGeom>
          <a:solidFill>
            <a:srgbClr val="161B22"/>
          </a:solidFill>
          <a:ln w="12700">
            <a:solidFill>
              <a:srgbClr val="58A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02920" y="932688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Fast-Forward Merge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02920" y="1371600"/>
            <a:ext cx="374904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When: No new commits on main since branching.</a:t>
            </a:r>
            <a:endParaRPr lang="en-US" sz="1250" dirty="0"/>
          </a:p>
          <a:p>
            <a:pPr marL="0" indent="0">
              <a:buNone/>
            </a:pP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happens: Git just moves the main pointer forward — no merge commit created.</a:t>
            </a:r>
            <a:endParaRPr lang="en-US" sz="1250" dirty="0"/>
          </a:p>
          <a:p>
            <a:pPr marL="0" indent="0">
              <a:buNone/>
            </a:pP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Linear history. Looks like you never branched.</a:t>
            </a:r>
            <a:endParaRPr lang="en-US" sz="1250" dirty="0"/>
          </a:p>
          <a:p>
            <a:pPr marL="0" indent="0">
              <a:buNone/>
            </a:pP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Command: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merge feature/login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754880" y="868680"/>
            <a:ext cx="4023360" cy="3840480"/>
          </a:xfrm>
          <a:prstGeom prst="rect">
            <a:avLst/>
          </a:prstGeom>
          <a:solidFill>
            <a:srgbClr val="161B22"/>
          </a:solidFill>
          <a:ln w="12700">
            <a:solidFill>
              <a:srgbClr val="F781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892040" y="932688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78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🔀 3-Way Merge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892040" y="1371600"/>
            <a:ext cx="374904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When: Both branches have new commits (diverged).</a:t>
            </a:r>
            <a:endParaRPr lang="en-US" sz="1250" dirty="0"/>
          </a:p>
          <a:p>
            <a:pPr marL="0" indent="0">
              <a:buNone/>
            </a:pP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happens: Git creates a new 'merge commit' that has TWO parents, joining both lines.</a:t>
            </a:r>
            <a:endParaRPr lang="en-US" sz="1250" dirty="0"/>
          </a:p>
          <a:p>
            <a:pPr marL="0" indent="0">
              <a:buNone/>
            </a:pP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Preserves the branch history.</a:t>
            </a:r>
            <a:endParaRPr lang="en-US" sz="1250" dirty="0"/>
          </a:p>
          <a:p>
            <a:pPr marL="0" indent="0">
              <a:buNone/>
            </a:pP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Command: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merge --no-ff feature/login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74320" y="4846320"/>
            <a:ext cx="82296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B949E"/>
                </a:solidFill>
              </a:rPr>
              <a:t>Git Mastery Course  •  Day 2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78166"/>
          </a:solidFill>
          <a:ln w="12700">
            <a:solidFill>
              <a:srgbClr val="F781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⚔️ Resolving Merge Conflicts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749808"/>
            <a:ext cx="8412480" cy="2651760"/>
          </a:xfrm>
          <a:prstGeom prst="rect">
            <a:avLst/>
          </a:prstGeom>
          <a:solidFill>
            <a:srgbClr val="010409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94360" y="886968"/>
            <a:ext cx="164592" cy="164592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850392" y="886968"/>
            <a:ext cx="164592" cy="164592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106424" y="886968"/>
            <a:ext cx="164592" cy="164592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48640" y="1143000"/>
            <a:ext cx="8046720" cy="214884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When conflict occurs, Git marks the file like this:
</a:t>
            </a:r>
            <a:r>
              <a:rPr lang="en-US" sz="1200" dirty="0">
                <a:solidFill>
                  <a:srgbClr val="F781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&lt;&lt;&lt;&lt;&lt;&lt;&lt; HEAD
</a:t>
            </a:r>
            <a:r>
              <a:rPr lang="en-US" sz="12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'Hello from main branch'
</a:t>
            </a:r>
            <a:r>
              <a:rPr lang="en-US" sz="12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=======
</a:t>
            </a:r>
            <a:r>
              <a:rPr lang="en-US" sz="12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'Hello from feature branch'
</a:t>
            </a:r>
            <a:r>
              <a:rPr lang="en-US" sz="1200" dirty="0">
                <a:solidFill>
                  <a:srgbClr val="F781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&gt;&gt;&gt;&gt;&gt;&gt;&gt; feature/login
</a:t>
            </a:r>
            <a:r>
              <a:rPr lang="en-US" sz="12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Resolve: edit file to keep what you want, then:
</a:t>
            </a:r>
            <a:r>
              <a:rPr lang="en-US" sz="12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git add filename.js
$ git commit -m "Merge feature/login into main"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3520440"/>
            <a:ext cx="2011680" cy="1005840"/>
          </a:xfrm>
          <a:prstGeom prst="rect">
            <a:avLst/>
          </a:prstGeom>
          <a:solidFill>
            <a:srgbClr val="161B22"/>
          </a:solidFill>
          <a:ln w="12700">
            <a:solidFill>
              <a:srgbClr val="F781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48640" y="358444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78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Identify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48640" y="393192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status shows conflicted files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606040" y="3520440"/>
            <a:ext cx="2011680" cy="1005840"/>
          </a:xfrm>
          <a:prstGeom prst="rect">
            <a:avLst/>
          </a:prstGeom>
          <a:solidFill>
            <a:srgbClr val="161B22"/>
          </a:solidFill>
          <a:ln w="12700">
            <a:solidFill>
              <a:srgbClr val="F781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2697480" y="358444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78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Edit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697480" y="393192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file, remove markers, keep correct code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754880" y="3520440"/>
            <a:ext cx="2011680" cy="1005840"/>
          </a:xfrm>
          <a:prstGeom prst="rect">
            <a:avLst/>
          </a:prstGeom>
          <a:solidFill>
            <a:srgbClr val="161B22"/>
          </a:solidFill>
          <a:ln w="12700">
            <a:solidFill>
              <a:srgbClr val="F781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846320" y="358444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78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Stage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846320" y="393192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add the resolved file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903720" y="3520440"/>
            <a:ext cx="2011680" cy="1005840"/>
          </a:xfrm>
          <a:prstGeom prst="rect">
            <a:avLst/>
          </a:prstGeom>
          <a:solidFill>
            <a:srgbClr val="161B22"/>
          </a:solidFill>
          <a:ln w="12700">
            <a:solidFill>
              <a:srgbClr val="F781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995160" y="358444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78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Commit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995160" y="393192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commit finalizes the merge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274320" y="4846320"/>
            <a:ext cx="82296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B949E"/>
                </a:solidFill>
              </a:rPr>
              <a:t>Git Mastery Course  •  Day 2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Day 2 Hands-On Tasks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804672"/>
            <a:ext cx="8229600" cy="36576"/>
          </a:xfrm>
          <a:prstGeom prst="rect">
            <a:avLst/>
          </a:prstGeom>
          <a:solidFill>
            <a:srgbClr val="21262D"/>
          </a:solidFill>
          <a:ln w="12700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0" y="960120"/>
            <a:ext cx="8229600" cy="658368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94360" y="1088136"/>
            <a:ext cx="402336" cy="402336"/>
          </a:xfrm>
          <a:prstGeom prst="ellipse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94360" y="108813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115568" y="1014984"/>
            <a:ext cx="7132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&amp; Switch Branches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115568" y="1298448"/>
            <a:ext cx="7132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feature/login and feature/signup, practice switching between them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1709928"/>
            <a:ext cx="8229600" cy="658368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594360" y="1837944"/>
            <a:ext cx="402336" cy="402336"/>
          </a:xfrm>
          <a:prstGeom prst="ellipse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94360" y="183794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115568" y="1764792"/>
            <a:ext cx="7132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 Parallel Work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115568" y="2048256"/>
            <a:ext cx="7132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different commits on main and feature branch simultaneously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2459736"/>
            <a:ext cx="8229600" cy="658368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594360" y="2587752"/>
            <a:ext cx="402336" cy="402336"/>
          </a:xfrm>
          <a:prstGeom prst="ellipse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94360" y="258775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115568" y="2514600"/>
            <a:ext cx="7132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 Fast-Forward Merge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115568" y="2798064"/>
            <a:ext cx="7132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 feature into main when only feature has new commits — observe no merge commit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57200" y="3209544"/>
            <a:ext cx="8229600" cy="658368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594360" y="3337560"/>
            <a:ext cx="402336" cy="402336"/>
          </a:xfrm>
          <a:prstGeom prst="ellipse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94360" y="33375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115568" y="3264408"/>
            <a:ext cx="7132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&amp; Resolve a Conflict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115568" y="3547872"/>
            <a:ext cx="7132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 same line in both branches, merge, resolve the conflict manually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57200" y="3959352"/>
            <a:ext cx="8229600" cy="658368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594360" y="4087368"/>
            <a:ext cx="402336" cy="402336"/>
          </a:xfrm>
          <a:prstGeom prst="ellipse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594360" y="408736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5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115568" y="4014216"/>
            <a:ext cx="7132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 Cleanup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1115568" y="4297680"/>
            <a:ext cx="7132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 merged branches, practice git branch -d and -D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274320" y="4846320"/>
            <a:ext cx="82296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B949E"/>
                </a:solidFill>
              </a:rPr>
              <a:t>Git Mastery Course  •  Day 2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707</Words>
  <Application>Microsoft Office PowerPoint</Application>
  <PresentationFormat>On-screen Show (16:9)</PresentationFormat>
  <Paragraphs>110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suhail basha</cp:lastModifiedBy>
  <cp:revision>2</cp:revision>
  <dcterms:created xsi:type="dcterms:W3CDTF">2026-04-11T19:24:04Z</dcterms:created>
  <dcterms:modified xsi:type="dcterms:W3CDTF">2026-09-01T20:59:04Z</dcterms:modified>
</cp:coreProperties>
</file>